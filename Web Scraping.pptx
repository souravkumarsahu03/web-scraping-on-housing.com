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0" r:id="rId4"/>
    <p:sldId id="261" r:id="rId5"/>
    <p:sldId id="262" r:id="rId6"/>
    <p:sldId id="263" r:id="rId7"/>
    <p:sldId id="271" r:id="rId8"/>
    <p:sldId id="264" r:id="rId9"/>
    <p:sldId id="272" r:id="rId10"/>
    <p:sldId id="265" r:id="rId11"/>
    <p:sldId id="266" r:id="rId12"/>
    <p:sldId id="280" r:id="rId13"/>
    <p:sldId id="267" r:id="rId14"/>
    <p:sldId id="273" r:id="rId15"/>
    <p:sldId id="278" r:id="rId16"/>
    <p:sldId id="274" r:id="rId17"/>
    <p:sldId id="275" r:id="rId18"/>
    <p:sldId id="279" r:id="rId19"/>
    <p:sldId id="277" r:id="rId20"/>
    <p:sldId id="276" r:id="rId21"/>
    <p:sldId id="269" r:id="rId22"/>
    <p:sldId id="268" r:id="rId23"/>
    <p:sldId id="259" r:id="rId24"/>
  </p:sldIdLst>
  <p:sldSz cx="12192000" cy="6858000"/>
  <p:notesSz cx="6858000" cy="9144000"/>
  <p:embeddedFontLst>
    <p:embeddedFont>
      <p:font typeface="Libre Baskerville" panose="02000000000000000000" pitchFamily="2" charset="0"/>
      <p:regular r:id="rId26"/>
      <p:bold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879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75946" y="3717986"/>
            <a:ext cx="10146323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4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Arbitrage Detector</a:t>
            </a:r>
            <a:endParaRPr sz="45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4B22E37-33E0-B7C3-0ACE-0329649317F3}"/>
              </a:ext>
            </a:extLst>
          </p:cNvPr>
          <p:cNvSpPr txBox="1"/>
          <p:nvPr/>
        </p:nvSpPr>
        <p:spPr>
          <a:xfrm>
            <a:off x="8254669" y="5195273"/>
            <a:ext cx="3842954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Calibri"/>
                <a:cs typeface="Calibri"/>
              </a:rPr>
              <a:t>Presented by 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Sudarshan G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	     Sourav </a:t>
            </a:r>
            <a:r>
              <a:rPr lang="en-IN" b="1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Kumar Sahu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Calibri"/>
                <a:cs typeface="Calibri"/>
              </a:rPr>
              <a:t>Batch No 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403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Calibri"/>
                <a:cs typeface="Calibri"/>
              </a:rPr>
              <a:t>INNOMATICS RESEARCH LABS,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Calibri"/>
                <a:cs typeface="Calibri"/>
              </a:rPr>
              <a:t>DILSUKHNAGAR, HYDERABAD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1675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Table of Contents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Introduction</a:t>
            </a:r>
            <a:endParaRPr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Problem Statement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Library Used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Steps for Collecting Data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Collected Data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Steps for Cleaning the Data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Cleaned Data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Statistical Data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 Visualizations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BB4E-34A5-5636-3ED4-7E2251BE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INTRODUCTIONS TO HOUSING.COM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D06D7-148D-80F8-BC5A-C3D4B818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Housing.com</a:t>
            </a:r>
            <a:r>
              <a:rPr lang="en-US" dirty="0"/>
              <a:t> is a local online classifieds portal dedicated to buying, selling, and renting properties across Hyderabad. It serves a similar purpose to larger, more established platforms like </a:t>
            </a:r>
            <a:r>
              <a:rPr lang="en-US" b="1" dirty="0"/>
              <a:t>99acres, MagicBricks, No Broker,</a:t>
            </a:r>
            <a:r>
              <a:rPr lang="en-US" dirty="0"/>
              <a:t> but focuses specifically on the </a:t>
            </a:r>
            <a:r>
              <a:rPr lang="en-US" b="1" dirty="0"/>
              <a:t>Hyderabad real estate market</a:t>
            </a:r>
            <a:r>
              <a:rPr lang="en-US" dirty="0"/>
              <a:t>.</a:t>
            </a:r>
          </a:p>
          <a:p>
            <a:r>
              <a:rPr lang="en-US" dirty="0"/>
              <a:t>The platform hosts listings from both authorized real estate agents and individual property owners, making it easier for users to explore apartments, independent houses, villas, commercial spaces,</a:t>
            </a:r>
            <a:r>
              <a:rPr lang="en-US" b="1" dirty="0"/>
              <a:t> </a:t>
            </a:r>
            <a:r>
              <a:rPr lang="en-US" dirty="0"/>
              <a:t>and open plots across various localities such as </a:t>
            </a:r>
            <a:r>
              <a:rPr lang="en-US" b="1" dirty="0"/>
              <a:t>Gachibowli, Kukatpally, Madhapur, Banjara Hills, and LB Nagar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21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FD8C-91B7-D35C-774E-2CF23AD5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STATEMENT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50685-A700-1703-23A0-CDD3CCCD5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923" y="1561855"/>
            <a:ext cx="10515600" cy="4351338"/>
          </a:xfrm>
        </p:spPr>
        <p:txBody>
          <a:bodyPr/>
          <a:lstStyle/>
          <a:p>
            <a:r>
              <a:rPr lang="en-US" dirty="0"/>
              <a:t>Real estate data on online platforms like Housing.com is vast but unstructured, scattered, and difficult to analyze directly.</a:t>
            </a:r>
            <a:br>
              <a:rPr lang="en-US" dirty="0"/>
            </a:br>
            <a:r>
              <a:rPr lang="en-US" dirty="0"/>
              <a:t>Users, investors, and analysts struggle to obtain accurate insights into property prices, locality trends, and availability due to the lack of a centralized, clean dataset.</a:t>
            </a:r>
            <a:br>
              <a:rPr lang="en-US" dirty="0"/>
            </a:br>
            <a:r>
              <a:rPr lang="en-US" dirty="0"/>
              <a:t>Hence, there is a need to </a:t>
            </a:r>
            <a:r>
              <a:rPr lang="en-US" b="1" dirty="0"/>
              <a:t>collect, clean, and analyze</a:t>
            </a:r>
            <a:r>
              <a:rPr lang="en-US" dirty="0"/>
              <a:t> data from Housing.com to understand </a:t>
            </a:r>
            <a:r>
              <a:rPr lang="en-US" b="1" dirty="0"/>
              <a:t>pricing patterns, popular localities, and property characteristics</a:t>
            </a:r>
            <a:r>
              <a:rPr lang="en-US" dirty="0"/>
              <a:t> within the </a:t>
            </a:r>
            <a:r>
              <a:rPr lang="en-US" b="1" dirty="0"/>
              <a:t>Hyderabad real estate market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12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AD52-09A5-68D1-6841-D827C9D7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LIBRARY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CA92B-426B-BF18-AFE8-298F69A70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Pandas:</a:t>
            </a:r>
            <a:r>
              <a:rPr lang="en-US" dirty="0"/>
              <a:t> For data manipulation and cleaning tasks such as handling missing values, formatting, and filtering records.</a:t>
            </a:r>
          </a:p>
          <a:p>
            <a:r>
              <a:rPr lang="en-US" b="1" dirty="0"/>
              <a:t>NumPy:</a:t>
            </a:r>
            <a:r>
              <a:rPr lang="en-US" dirty="0"/>
              <a:t> For performing numerical operations and array manipulations.</a:t>
            </a:r>
          </a:p>
          <a:p>
            <a:r>
              <a:rPr lang="en-US" b="1" dirty="0" err="1"/>
              <a:t>BeautifulSoup</a:t>
            </a:r>
            <a:r>
              <a:rPr lang="en-US" b="1" dirty="0"/>
              <a:t> &amp; Requests:</a:t>
            </a:r>
            <a:r>
              <a:rPr lang="en-US" dirty="0"/>
              <a:t> For web scraping property listings from Housing.com and collecting relevant property data.</a:t>
            </a:r>
          </a:p>
          <a:p>
            <a:r>
              <a:rPr lang="en-US" b="1" dirty="0"/>
              <a:t>Matplotlib &amp; Seaborn:</a:t>
            </a:r>
            <a:r>
              <a:rPr lang="en-US" dirty="0"/>
              <a:t> For creating visualizations like bar charts, pie charts, histograms, and scatter plots to interpret trends and insights.</a:t>
            </a:r>
          </a:p>
          <a:p>
            <a:r>
              <a:rPr lang="en-US" b="1" dirty="0"/>
              <a:t>re (Regular Expressions):</a:t>
            </a:r>
            <a:r>
              <a:rPr lang="en-US" dirty="0"/>
              <a:t> For text extraction and data standardization, such as cleaning price formats and addresses.</a:t>
            </a:r>
          </a:p>
        </p:txBody>
      </p:sp>
    </p:spTree>
    <p:extLst>
      <p:ext uri="{BB962C8B-B14F-4D97-AF65-F5344CB8AC3E}">
        <p14:creationId xmlns:p14="http://schemas.microsoft.com/office/powerpoint/2010/main" val="6637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134B-7808-EA21-2548-8518FB93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STEPS FOR COLLECTING DATA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2FE54-70A7-7033-D9F0-CF0BBA47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>
            <a:noAutofit/>
          </a:bodyPr>
          <a:lstStyle/>
          <a:p>
            <a:r>
              <a:rPr lang="en-US" b="1" dirty="0"/>
              <a:t>Defining Objectives:</a:t>
            </a:r>
            <a:br>
              <a:rPr lang="en-US" dirty="0"/>
            </a:br>
            <a:r>
              <a:rPr lang="en-US" dirty="0"/>
              <a:t>The goal was to analyze property trends in Hyderabad — prices, types, and locations.</a:t>
            </a:r>
          </a:p>
          <a:p>
            <a:r>
              <a:rPr lang="en-US" b="1" dirty="0"/>
              <a:t>Identifying Target Locations:</a:t>
            </a:r>
            <a:br>
              <a:rPr lang="en-US" dirty="0"/>
            </a:br>
            <a:r>
              <a:rPr lang="en-US" dirty="0"/>
              <a:t>Data was collected for major localities like </a:t>
            </a:r>
            <a:r>
              <a:rPr lang="en-IN" i="1" dirty="0"/>
              <a:t>Kondapur</a:t>
            </a:r>
            <a:r>
              <a:rPr lang="en-US" i="1" dirty="0"/>
              <a:t>, </a:t>
            </a:r>
            <a:r>
              <a:rPr lang="en-US" i="1" dirty="0" err="1"/>
              <a:t>Kokapet</a:t>
            </a:r>
            <a:r>
              <a:rPr lang="en-US" i="1" dirty="0"/>
              <a:t>, Madhapur, Financial District,</a:t>
            </a:r>
            <a:r>
              <a:rPr lang="en-US" dirty="0"/>
              <a:t> and </a:t>
            </a:r>
            <a:r>
              <a:rPr lang="en-US" i="1" dirty="0" err="1"/>
              <a:t>Narsingi</a:t>
            </a:r>
            <a:r>
              <a:rPr lang="en-US" dirty="0"/>
              <a:t>.</a:t>
            </a:r>
          </a:p>
          <a:p>
            <a:r>
              <a:rPr lang="en-US" b="1" dirty="0"/>
              <a:t>Web Scraping Setup:</a:t>
            </a:r>
            <a:endParaRPr lang="en-US" dirty="0"/>
          </a:p>
          <a:p>
            <a:r>
              <a:rPr lang="en-US" dirty="0"/>
              <a:t>Used the </a:t>
            </a:r>
            <a:r>
              <a:rPr lang="en-US" b="1" dirty="0"/>
              <a:t>Requests</a:t>
            </a:r>
            <a:r>
              <a:rPr lang="en-US" dirty="0"/>
              <a:t> library to send HTTP requests to Housing.com pages.</a:t>
            </a:r>
          </a:p>
          <a:p>
            <a:r>
              <a:rPr lang="en-US" dirty="0"/>
              <a:t>Parsed the HTML responses using </a:t>
            </a:r>
            <a:r>
              <a:rPr lang="en-US" b="1" dirty="0" err="1"/>
              <a:t>BeautifulSoup</a:t>
            </a:r>
            <a:r>
              <a:rPr lang="en-US" dirty="0"/>
              <a:t> to extract relevant details.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9927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B93B-B379-A99A-F4D2-106C0228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52F4-DA79-D39C-9240-8538B678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STEPS FOR COLLECTING DATA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94F5C5-9F09-CDC9-A078-E5BBE10BD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348549"/>
            <a:ext cx="995373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Fields Extracted: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Property Type (Apartment, Villa, Plot, etc.)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Locality/Area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Number of Bedrooms (BHK)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Price (in INR)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Size (sq. ft.)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Furnishing Status (Furnished/Semi-Furnished/Unfurnished)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Listing Type (Owner/Agent)</a:t>
            </a: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Storage: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scraped data was stored in a structured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 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named hyderabad_properties.csv for further cleaning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57240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F877-DE6C-EFB6-0973-3D64F9BD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COLLECTED DATA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FF2349B-438F-543C-88D4-517A37CC3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258" y="1479058"/>
            <a:ext cx="1066554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raw dataset contained details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approximately 2,500+ property listings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Hyderabad.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sample structure of the collected data is as follows: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92FCB2-3757-4F6D-E4F4-773C78796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7" y="2936630"/>
            <a:ext cx="6478248" cy="345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6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953F-7306-126F-774F-25E73F8D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F37F-8987-4878-BF69-97666A74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STEPS FOR CLEANING THE DATA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7A248-22BA-FA0C-F096-66B6818E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9651"/>
            <a:ext cx="11049000" cy="4644002"/>
          </a:xfrm>
        </p:spPr>
        <p:txBody>
          <a:bodyPr>
            <a:noAutofit/>
          </a:bodyPr>
          <a:lstStyle/>
          <a:p>
            <a:r>
              <a:rPr lang="en-IN" dirty="0"/>
              <a:t>The raw data contained missing values, inconsistent formats, and irregular text entries. The cleaning steps included:</a:t>
            </a:r>
          </a:p>
          <a:p>
            <a:r>
              <a:rPr lang="en-IN" b="1" dirty="0"/>
              <a:t>Handling Missing Values:</a:t>
            </a:r>
            <a:endParaRPr lang="en-IN" dirty="0"/>
          </a:p>
          <a:p>
            <a:pPr lvl="1"/>
            <a:r>
              <a:rPr lang="en-IN" dirty="0"/>
              <a:t>Replaced null entries in </a:t>
            </a:r>
            <a:r>
              <a:rPr lang="en-IN" i="1" dirty="0"/>
              <a:t>Furnishing</a:t>
            </a:r>
            <a:r>
              <a:rPr lang="en-IN" dirty="0"/>
              <a:t> and </a:t>
            </a:r>
            <a:r>
              <a:rPr lang="en-IN" i="1" dirty="0"/>
              <a:t>BHK</a:t>
            </a:r>
            <a:r>
              <a:rPr lang="en-IN" dirty="0"/>
              <a:t> columns with appropriate defaults (e.g., “Not Available”).</a:t>
            </a:r>
          </a:p>
          <a:p>
            <a:pPr lvl="1"/>
            <a:r>
              <a:rPr lang="en-IN" dirty="0"/>
              <a:t>Removed records missing key information such as </a:t>
            </a:r>
            <a:r>
              <a:rPr lang="en-IN" i="1" dirty="0"/>
              <a:t>Price</a:t>
            </a:r>
            <a:r>
              <a:rPr lang="en-IN" dirty="0"/>
              <a:t> or </a:t>
            </a:r>
            <a:r>
              <a:rPr lang="en-IN" i="1" dirty="0"/>
              <a:t>Location</a:t>
            </a:r>
            <a:r>
              <a:rPr lang="en-IN" dirty="0"/>
              <a:t>.</a:t>
            </a:r>
          </a:p>
          <a:p>
            <a:r>
              <a:rPr lang="en-IN" b="1" dirty="0"/>
              <a:t>Standardizing Formats:</a:t>
            </a:r>
            <a:endParaRPr lang="en-IN" dirty="0"/>
          </a:p>
          <a:p>
            <a:pPr lvl="1"/>
            <a:r>
              <a:rPr lang="en-IN" dirty="0"/>
              <a:t>Converted </a:t>
            </a:r>
            <a:r>
              <a:rPr lang="en-IN" i="1" dirty="0"/>
              <a:t>Price</a:t>
            </a:r>
            <a:r>
              <a:rPr lang="en-IN" dirty="0"/>
              <a:t> values from strings (e.g., "85 Lakh") to numeric values in INR.</a:t>
            </a:r>
          </a:p>
          <a:p>
            <a:pPr lvl="1"/>
            <a:r>
              <a:rPr lang="en-IN" dirty="0"/>
              <a:t>Ensured </a:t>
            </a:r>
            <a:r>
              <a:rPr lang="en-IN" i="1" dirty="0"/>
              <a:t>Size</a:t>
            </a:r>
            <a:r>
              <a:rPr lang="en-IN" dirty="0"/>
              <a:t> values were in consistent units (sq. ft.).</a:t>
            </a:r>
          </a:p>
          <a:p>
            <a:pPr lvl="1"/>
            <a:r>
              <a:rPr lang="en-IN" dirty="0"/>
              <a:t>Normalized </a:t>
            </a:r>
            <a:r>
              <a:rPr lang="en-IN" i="1" dirty="0"/>
              <a:t>Locality</a:t>
            </a:r>
            <a:r>
              <a:rPr lang="en-IN" dirty="0"/>
              <a:t> names (e.g., "Gachibowli" and "</a:t>
            </a:r>
            <a:r>
              <a:rPr lang="en-IN" dirty="0" err="1"/>
              <a:t>Gachi</a:t>
            </a:r>
            <a:r>
              <a:rPr lang="en-IN" dirty="0"/>
              <a:t> </a:t>
            </a:r>
            <a:r>
              <a:rPr lang="en-IN" dirty="0" err="1"/>
              <a:t>Bowli</a:t>
            </a:r>
            <a:r>
              <a:rPr lang="en-IN" dirty="0"/>
              <a:t>" merged).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435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2D03-9068-B2BD-1E6E-A7408CF7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STEPS FOR CLEANING THE DATA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B02A84-D3DB-FB22-84E7-E3DD76A49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22838" y="2090171"/>
            <a:ext cx="107835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and removed duplicate listings based on a combination of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new column </a:t>
            </a:r>
            <a:r>
              <a:rPr lang="en-IN" i="1" dirty="0" err="1"/>
              <a:t>Property_Area_In_sqft</a:t>
            </a:r>
            <a:r>
              <a:rPr 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categorical encoding for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Furnishing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location data from </a:t>
            </a:r>
            <a:r>
              <a:rPr lang="en-US" altLang="en-US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Property_Name</a:t>
            </a:r>
            <a:r>
              <a:rPr lang="en-US" alt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 of data types based on the records.</a:t>
            </a:r>
          </a:p>
        </p:txBody>
      </p:sp>
    </p:spTree>
    <p:extLst>
      <p:ext uri="{BB962C8B-B14F-4D97-AF65-F5344CB8AC3E}">
        <p14:creationId xmlns:p14="http://schemas.microsoft.com/office/powerpoint/2010/main" val="223638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A7A4-5597-91F6-4248-6BE019CD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CLEANED DATA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3A47A-E15A-5A4D-0F7C-35383CE54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29" y="1366684"/>
            <a:ext cx="10704871" cy="4810279"/>
          </a:xfrm>
        </p:spPr>
        <p:txBody>
          <a:bodyPr/>
          <a:lstStyle/>
          <a:p>
            <a:r>
              <a:rPr lang="en-US" dirty="0"/>
              <a:t>After cleaning, the dataset looks like this 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4526C3-7B84-6B6F-275D-626D3DA19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71" y="2373923"/>
            <a:ext cx="10021054" cy="338503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971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C574-BCF8-4789-EB1B-4D996FA0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STATISTICAL DATA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FD66F-A773-478D-C30A-8A6FBBD39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" y="1690688"/>
            <a:ext cx="5715798" cy="398200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7435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0E79-C768-541E-4E01-AF4A9431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VISUALIZATIONS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C375-F90E-D15B-53A3-B4263186D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2" y="1455174"/>
            <a:ext cx="10822858" cy="460149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Several visualizations were created to better understand the Hyderabad real estate market:</a:t>
            </a:r>
          </a:p>
          <a:p>
            <a:r>
              <a:rPr lang="en-US" b="1" dirty="0"/>
              <a:t>Property Type Distribution</a:t>
            </a:r>
            <a:endParaRPr lang="en-US" dirty="0"/>
          </a:p>
          <a:p>
            <a:r>
              <a:rPr lang="en-US" b="1" dirty="0"/>
              <a:t>Rent Price by Locality</a:t>
            </a:r>
            <a:endParaRPr lang="en-US" dirty="0"/>
          </a:p>
          <a:p>
            <a:r>
              <a:rPr lang="en-US" b="1" dirty="0"/>
              <a:t>Price vs Size Relationship</a:t>
            </a:r>
            <a:endParaRPr lang="en-US" dirty="0"/>
          </a:p>
          <a:p>
            <a:r>
              <a:rPr lang="en-US" b="1" dirty="0"/>
              <a:t>BHK vs Average Price</a:t>
            </a:r>
            <a:endParaRPr lang="en-US" dirty="0"/>
          </a:p>
          <a:p>
            <a:r>
              <a:rPr lang="en-US" b="1" dirty="0"/>
              <a:t>Furnishing Trends</a:t>
            </a:r>
            <a:endParaRPr lang="en-US" dirty="0"/>
          </a:p>
          <a:p>
            <a:r>
              <a:rPr lang="en-US" b="1" dirty="0"/>
              <a:t>Price per </a:t>
            </a:r>
            <a:r>
              <a:rPr lang="en-US" b="1" dirty="0" err="1"/>
              <a:t>Sqft</a:t>
            </a:r>
            <a:r>
              <a:rPr lang="en-US" b="1" dirty="0"/>
              <a:t>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78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BFA2-CECA-0C66-B26E-8D0852BA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Which apartment type represents the highest concentration of property?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0F0A5-7387-8506-D5CC-23B7487DBD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9" y="1825625"/>
            <a:ext cx="5679831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The 3 BHK configuration is the most highly supplied segment, boasting a count exceeding 1,200 listings. The market is overwhelmingly skewed toward mid-to-large family housing units.</a:t>
            </a:r>
          </a:p>
          <a:p>
            <a:r>
              <a:rPr lang="en-US" sz="1800" dirty="0"/>
              <a:t>The 1 BHK and 2 BHK units collectively form the second-largest segment, showing strong demand but a notably lower supply compared to 3 BHKs.</a:t>
            </a:r>
          </a:p>
          <a:p>
            <a:r>
              <a:rPr lang="en-US" sz="1800" dirty="0"/>
              <a:t>Configurations above 4 BHK (4.5, 5.0, 6.0) have negligible counts. The lowest type is correctly identified as 1.5 BHK, showing a minimal supply volume.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35AE3-DA09-85BA-1912-82EFEEFB4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17" y="2167924"/>
            <a:ext cx="4674576" cy="328659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5854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3389-5D62-8B73-9508-35075C1D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What is the distribution of property furnishing types in the rental listings, and which category dominates the market?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68AF6-F0E0-2375-44D0-EF7732B8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545015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pie chart reveals that semi furnished properties make up the largest share of the rental market, accounting for 68.77% of all listings.</a:t>
            </a:r>
          </a:p>
          <a:p>
            <a:r>
              <a:rPr lang="en-US" dirty="0"/>
              <a:t>Fully furnished properties represent 22.3%, indicating a significant but much smaller segment compared to semi furnished options.</a:t>
            </a:r>
          </a:p>
          <a:p>
            <a:r>
              <a:rPr lang="en-US" dirty="0"/>
              <a:t>Only 8.93% of the listings do not specify their furnishing status, showing that most property advertisements provide this detail.image.jpg​</a:t>
            </a:r>
          </a:p>
          <a:p>
            <a:r>
              <a:rPr lang="en-US" dirty="0"/>
              <a:t>Overall, renters are most likely to encounter semi furnished options when searching for apartments, making it the prevalent standard in the current market</a:t>
            </a:r>
            <a:r>
              <a:rPr lang="en-IN" sz="1800" dirty="0"/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F6598-C015-70CA-CFBF-45EBA7049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12" y="2189284"/>
            <a:ext cx="4749267" cy="32723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80094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3C015B-682F-AAD4-B218-1F3843FCE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98" y="2134943"/>
            <a:ext cx="5023718" cy="373270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675AC-26ED-6A97-6694-9EE021BC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What size properties do we have the most of, and how does that affect what we can charge?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B35AA-7BDA-017C-5F34-7042E82934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26015" y="1825625"/>
            <a:ext cx="5952393" cy="4351338"/>
          </a:xfrm>
        </p:spPr>
        <p:txBody>
          <a:bodyPr>
            <a:noAutofit/>
          </a:bodyPr>
          <a:lstStyle/>
          <a:p>
            <a:r>
              <a:rPr lang="en-US" sz="1800" dirty="0"/>
              <a:t>The market exhibits an extreme right-skewed distribution, with the vast majority of rental properties falling within the 1,000 to 3,000 </a:t>
            </a:r>
            <a:r>
              <a:rPr lang="en-US" sz="1800" dirty="0" err="1"/>
              <a:t>sq.ft</a:t>
            </a:r>
            <a:r>
              <a:rPr lang="en-US" sz="1800" dirty="0"/>
              <a:t>. range (The peak of the distribution).</a:t>
            </a:r>
          </a:p>
          <a:p>
            <a:r>
              <a:rPr lang="en-US" sz="1800" dirty="0"/>
              <a:t>The analysis shows the highest frequency (around 700 properties) is concentrated in the peak segment (approximately 2,000 </a:t>
            </a:r>
            <a:r>
              <a:rPr lang="en-US" sz="1800" dirty="0" err="1"/>
              <a:t>sq.ft</a:t>
            </a:r>
            <a:r>
              <a:rPr lang="en-US" sz="1800" dirty="0"/>
              <a:t>.). This volume establishes the baseline rental rate for the entire market.</a:t>
            </a:r>
          </a:p>
          <a:p>
            <a:r>
              <a:rPr lang="en-US" sz="1800" dirty="0"/>
              <a:t>Less than 5% of the total supply is found in the large-format luxury bracket (above 6,000 </a:t>
            </a:r>
            <a:r>
              <a:rPr lang="en-US" sz="1800" dirty="0" err="1"/>
              <a:t>sq.ft</a:t>
            </a:r>
            <a:r>
              <a:rPr lang="en-US" sz="1800" dirty="0"/>
              <a:t>.), indicating extremely low liquidity.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7222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CE1BEF-A8CB-9115-2440-0F8EBEB5B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64" y="2155176"/>
            <a:ext cx="5686943" cy="358513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4BDC5F-00E2-3645-5270-0E002DBD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What does the distribution and variation of rent prices look like across different BHK types, and which BHK category exhibits the largest spread or outliers in rental values?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1A797-48A7-7F9A-5DD6-01C9714FC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55177"/>
            <a:ext cx="5137639" cy="4321786"/>
          </a:xfrm>
        </p:spPr>
        <p:txBody>
          <a:bodyPr>
            <a:normAutofit/>
          </a:bodyPr>
          <a:lstStyle/>
          <a:p>
            <a:r>
              <a:rPr lang="en-US" sz="1800" dirty="0"/>
              <a:t>The box plot and violin plot together clearly illustrate how rent prices vary by BHK type, with higher BHK types generally showing wider ranges and higher median rent values.</a:t>
            </a:r>
          </a:p>
          <a:p>
            <a:r>
              <a:rPr lang="en-US" sz="1800" dirty="0"/>
              <a:t>3 BHK flats have the most outliers, indicating significant variability and extreme rents in this segment; in contrast, 1, 3.5, and 4.5 BHK flats show no significant outliers, suggesting more stable pricing for those categories.</a:t>
            </a:r>
          </a:p>
          <a:p>
            <a:r>
              <a:rPr lang="en-US" sz="1800" dirty="0"/>
              <a:t>The lowest rent prices are close to ₹0 for all types, while the highest outlier approaches ₹1,000,000 (or 10 lakh rupees), observed especially for larger BHK categories.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7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C566-A8E2-0DFC-1507-C0CA971E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Which </a:t>
            </a:r>
            <a:r>
              <a:rPr lang="en-US" sz="2800" b="1" dirty="0">
                <a:solidFill>
                  <a:srgbClr val="FF0000"/>
                </a:solidFill>
              </a:rPr>
              <a:t>locations show the most dramatic price premium for larger, luxury apartments (4.0 BHK and 5.0 BHK)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C42DE-CA26-AAD3-03B2-266AD006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5532" y="1825625"/>
            <a:ext cx="5788268" cy="4351338"/>
          </a:xfrm>
        </p:spPr>
        <p:txBody>
          <a:bodyPr>
            <a:normAutofit/>
          </a:bodyPr>
          <a:lstStyle/>
          <a:p>
            <a:r>
              <a:rPr lang="en-US" sz="1800" dirty="0" err="1"/>
              <a:t>Kokapet</a:t>
            </a:r>
            <a:r>
              <a:rPr lang="en-US" sz="1800" dirty="0"/>
              <a:t> and </a:t>
            </a:r>
            <a:r>
              <a:rPr lang="en-US" sz="1800" dirty="0" err="1"/>
              <a:t>Narsingi</a:t>
            </a:r>
            <a:r>
              <a:rPr lang="en-US" sz="1800" dirty="0"/>
              <a:t> stand out for having the highest average rental prices, particularly for larger units. The 5.0 BHK apartments in </a:t>
            </a:r>
            <a:r>
              <a:rPr lang="en-US" sz="1800" dirty="0" err="1"/>
              <a:t>Kokapet</a:t>
            </a:r>
            <a:r>
              <a:rPr lang="en-US" sz="1800" dirty="0"/>
              <a:t> have an average rent exceeding ₹350,000, which is the highest average price point shown on the chart.</a:t>
            </a:r>
          </a:p>
          <a:p>
            <a:r>
              <a:rPr lang="en-US" sz="1800" dirty="0"/>
              <a:t>The Financial District also commands a high price for 4.0 and 5.0 BHKs, indicating its strength in the premium/luxury residential segment, likely targeting high-salaried professionals.</a:t>
            </a:r>
          </a:p>
          <a:p>
            <a:r>
              <a:rPr lang="en-US" sz="1800" dirty="0"/>
              <a:t>Madhapur and Kondapur appear to be the most accessible areas for smaller units. Madhapur's 1.0 and 2.0 BHKs are among the lowest-priced options.</a:t>
            </a: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CBC11D-6C04-3653-E8AD-05742D82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65" y="1825625"/>
            <a:ext cx="4741397" cy="44331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46207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C068-CD4B-F365-7FE3-5C9AB912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In which high-demand locality does a 'Fully Furnished' property command the largest premium, and does the 'Semi Furnished' standard hold the highest rent price across all analyzed areas?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D3E08-6662-B179-3B5F-04629F5E1D4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9" y="1825625"/>
            <a:ext cx="5811715" cy="4351338"/>
          </a:xfrm>
        </p:spPr>
        <p:txBody>
          <a:bodyPr>
            <a:normAutofit/>
          </a:bodyPr>
          <a:lstStyle/>
          <a:p>
            <a:r>
              <a:rPr lang="en-US" sz="1800" dirty="0" err="1"/>
              <a:t>Kokapet</a:t>
            </a:r>
            <a:r>
              <a:rPr lang="en-US" sz="1800" dirty="0"/>
              <a:t> shows an exceptional premium for the Fully Furnished category, with a rent price exceeding ₹225,000. This is the highest price point and shows the most significant gap between Fully and Semi Furnished options.</a:t>
            </a:r>
          </a:p>
          <a:p>
            <a:r>
              <a:rPr lang="en-US" sz="1800" dirty="0"/>
              <a:t>In most core localities like </a:t>
            </a:r>
            <a:r>
              <a:rPr lang="en-US" sz="1800" dirty="0" err="1"/>
              <a:t>Narsingi</a:t>
            </a:r>
            <a:r>
              <a:rPr lang="en-US" sz="1800" dirty="0"/>
              <a:t>, Madhapur, and Financial District, the Semi Furnished and Fully Furnished rent prices are surprisingly close. In </a:t>
            </a:r>
            <a:r>
              <a:rPr lang="en-US" sz="1800" dirty="0" err="1"/>
              <a:t>Narsingi</a:t>
            </a:r>
            <a:r>
              <a:rPr lang="en-US" sz="1800" dirty="0"/>
              <a:t>, the average for both is around ₹70,000.</a:t>
            </a:r>
          </a:p>
          <a:p>
            <a:r>
              <a:rPr lang="en-US" sz="1800" dirty="0"/>
              <a:t>The Not Specified category in </a:t>
            </a:r>
            <a:r>
              <a:rPr lang="en-US" sz="1800" dirty="0" err="1"/>
              <a:t>Narsingi</a:t>
            </a:r>
            <a:r>
              <a:rPr lang="en-US" sz="1800" dirty="0"/>
              <a:t> and Financial District has a high price point (around ₹70,000), likely because these are new, high-value apartments that haven't finalized the furnishing status, or the furnishing details were not scraped cleanly.</a:t>
            </a:r>
            <a:endParaRPr lang="en-IN" sz="1800" dirty="0"/>
          </a:p>
        </p:txBody>
      </p:sp>
      <p:sp>
        <p:nvSpPr>
          <p:cNvPr id="8" name="AutoShape 2" descr="Selected image presented in a lightbox.">
            <a:extLst>
              <a:ext uri="{FF2B5EF4-FFF2-40B4-BE49-F238E27FC236}">
                <a16:creationId xmlns:a16="http://schemas.microsoft.com/office/drawing/2014/main" id="{992EAA17-5B90-AA92-981D-28581BADBB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1A2B3E-BD56-2599-E6B2-2989FADA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94" y="1825625"/>
            <a:ext cx="4891960" cy="41306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76283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28B9BF-DA02-4253-6427-E4569D50D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54115"/>
            <a:ext cx="5817577" cy="278837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05EC8-324A-E540-F397-C8703EF4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Q). How strongly are rent price, property area in square feet, and BHK type correlated in the dataset, and does the relationship differ when measured using Pearson versus Spearman correlation?</a:t>
            </a:r>
            <a:endParaRPr lang="en-IN" sz="25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2B73B-9F0E-1E71-3B53-946EA4539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145" y="1784839"/>
            <a:ext cx="5137639" cy="4321786"/>
          </a:xfrm>
        </p:spPr>
        <p:txBody>
          <a:bodyPr>
            <a:normAutofit/>
          </a:bodyPr>
          <a:lstStyle/>
          <a:p>
            <a:r>
              <a:rPr lang="en-US" sz="1800" dirty="0"/>
              <a:t>All features are positively correlated, meaning an increase in one (like property area or BHK type) is generally associated with a rise in rent price.</a:t>
            </a:r>
          </a:p>
          <a:p>
            <a:r>
              <a:rPr lang="en-US" sz="1800" dirty="0"/>
              <a:t>The Pearson correlations (which measure linear relationships) indicate that rent price is very strongly related to property area (0.84) and moderately to BHK type (0.57).</a:t>
            </a:r>
          </a:p>
          <a:p>
            <a:r>
              <a:rPr lang="en-US" sz="1800" dirty="0"/>
              <a:t>The Spearman correlations (which are better for ranking and non-linear relationships) are even higher, at 0.88 for rent price vs. property area, and 0.78 for rent price vs. BHK type.</a:t>
            </a:r>
          </a:p>
        </p:txBody>
      </p:sp>
    </p:spTree>
    <p:extLst>
      <p:ext uri="{BB962C8B-B14F-4D97-AF65-F5344CB8AC3E}">
        <p14:creationId xmlns:p14="http://schemas.microsoft.com/office/powerpoint/2010/main" val="4106333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82AF-3BBE-8870-FBCC-54AFE64A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SOLUTION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0D1DE-E2C5-C4FD-8D09-DC2221A80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To address this issue, we developed a web scraping and exploratory data analysis (EDA) pipeline that:</a:t>
            </a:r>
          </a:p>
          <a:p>
            <a:r>
              <a:rPr lang="en-US" dirty="0"/>
              <a:t>Scrapes property listings (price, area, location, BHK, property type, etc.) from Housing.com for Hyderabad.</a:t>
            </a:r>
          </a:p>
          <a:p>
            <a:r>
              <a:rPr lang="en-US" dirty="0"/>
              <a:t>Cleans and preprocesses the data to handle duplicates, missing values, and inconsistent formats.</a:t>
            </a:r>
          </a:p>
          <a:p>
            <a:r>
              <a:rPr lang="en-US" dirty="0"/>
              <a:t>Performs exploratory data analysis to identify:</a:t>
            </a:r>
          </a:p>
          <a:p>
            <a:r>
              <a:rPr lang="en-US" dirty="0"/>
              <a:t>Presents findings through interactive visualizations, enabling data-driven decision-making for buyers, sellers, and market analysts.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637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44D3-BA8C-795A-E49E-CDB8E893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FE490D-9D80-4E33-DE9A-7EDEAF736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11717593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Insights: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Apartments dominate the Hyderabad housing market, followed by plots and villas.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areas like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Kokapet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arsingi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highest price based on BHK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Kondapur and Madhapur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relatively affordable options with a wide range of apartments only based on 2BHK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Applications: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can guide buyers, sellers, and investors in identifying high-value and high-demand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estate agents can use the insights for pricing strategies and targeted marketing.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80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1297858" y="2563761"/>
            <a:ext cx="2831691" cy="173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C:\Users\user\Pictures\Screenshot 2025-10-15 195203.png">
            <a:extLst>
              <a:ext uri="{FF2B5EF4-FFF2-40B4-BE49-F238E27FC236}">
                <a16:creationId xmlns:a16="http://schemas.microsoft.com/office/drawing/2014/main" id="{972F7719-6429-0952-24F5-5C15C5EFF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934992"/>
            <a:ext cx="4709855" cy="451039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1817</Words>
  <Application>Microsoft Office PowerPoint</Application>
  <PresentationFormat>Widescreen</PresentationFormat>
  <Paragraphs>120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Arial</vt:lpstr>
      <vt:lpstr>Libre Baskerville</vt:lpstr>
      <vt:lpstr>Office Theme</vt:lpstr>
      <vt:lpstr>PowerPoint Presentation</vt:lpstr>
      <vt:lpstr>Table of Contents  </vt:lpstr>
      <vt:lpstr>INTRODUCTIONS TO HOUSING.COM </vt:lpstr>
      <vt:lpstr>PROBLEM STATEMENT</vt:lpstr>
      <vt:lpstr>LIBRARY USED</vt:lpstr>
      <vt:lpstr>STEPS FOR COLLECTING DATA</vt:lpstr>
      <vt:lpstr>STEPS FOR COLLECTING DATA</vt:lpstr>
      <vt:lpstr>COLLECTED DATA</vt:lpstr>
      <vt:lpstr>STEPS FOR CLEANING THE DATA </vt:lpstr>
      <vt:lpstr>STEPS FOR CLEANING THE DATA </vt:lpstr>
      <vt:lpstr>CLEANED DATA</vt:lpstr>
      <vt:lpstr>STATISTICAL DATA</vt:lpstr>
      <vt:lpstr>DATA VISUALIZATIONS</vt:lpstr>
      <vt:lpstr>Q). Which apartment type represents the highest concentration of property?</vt:lpstr>
      <vt:lpstr>Q). What is the distribution of property furnishing types in the rental listings, and which category dominates the market?</vt:lpstr>
      <vt:lpstr>Q). What size properties do we have the most of, and how does that affect what we can charge?</vt:lpstr>
      <vt:lpstr>Q). What does the distribution and variation of rent prices look like across different BHK types, and which BHK category exhibits the largest spread or outliers in rental values?</vt:lpstr>
      <vt:lpstr>Q). Which locations show the most dramatic price premium for larger, luxury apartments (4.0 BHK and 5.0 BHK)</vt:lpstr>
      <vt:lpstr>Q). In which high-demand locality does a 'Fully Furnished' property command the largest premium, and does the 'Semi Furnished' standard hold the highest rent price across all analyzed areas?</vt:lpstr>
      <vt:lpstr>Q). How strongly are rent price, property area in square feet, and BHK type correlated in the dataset, and does the relationship differ when measured using Pearson versus Spearman correlation?</vt:lpstr>
      <vt:lpstr>SOLUTION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Sourav Sahu</cp:lastModifiedBy>
  <cp:revision>64</cp:revision>
  <dcterms:created xsi:type="dcterms:W3CDTF">2021-02-16T05:19:01Z</dcterms:created>
  <dcterms:modified xsi:type="dcterms:W3CDTF">2025-11-01T11:15:46Z</dcterms:modified>
</cp:coreProperties>
</file>